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9" r:id="rId2"/>
    <p:sldId id="473" r:id="rId3"/>
    <p:sldId id="258" r:id="rId4"/>
    <p:sldId id="485" r:id="rId5"/>
    <p:sldId id="483" r:id="rId6"/>
    <p:sldId id="486" r:id="rId7"/>
    <p:sldId id="474" r:id="rId8"/>
    <p:sldId id="487" r:id="rId9"/>
    <p:sldId id="489" r:id="rId10"/>
    <p:sldId id="490" r:id="rId11"/>
    <p:sldId id="480" r:id="rId12"/>
    <p:sldId id="491" r:id="rId13"/>
    <p:sldId id="48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258"/>
            <p14:sldId id="485"/>
            <p14:sldId id="483"/>
            <p14:sldId id="486"/>
            <p14:sldId id="474"/>
            <p14:sldId id="487"/>
            <p14:sldId id="489"/>
            <p14:sldId id="490"/>
            <p14:sldId id="480"/>
            <p14:sldId id="491"/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6" autoAdjust="0"/>
    <p:restoredTop sz="94651" autoAdjust="0"/>
  </p:normalViewPr>
  <p:slideViewPr>
    <p:cSldViewPr snapToGrid="0">
      <p:cViewPr>
        <p:scale>
          <a:sx n="75" d="100"/>
          <a:sy n="75" d="100"/>
        </p:scale>
        <p:origin x="1080" y="2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243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142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962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267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8D53A-05F5-42E3-9248-1C9A922B0D7D}" type="datetime1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5BF81-30EC-425C-9C10-F4F3CBC90A9B}" type="datetime1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6FA4A-AA55-48B9-927A-F42E01105DBF}" type="datetime1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D9862-AB45-4213-9098-004B8055FBF0}" type="datetime1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22C65-2965-4390-B318-516658698D26}" type="datetime1">
              <a:rPr lang="ru-RU" smtClean="0"/>
              <a:t>16.04.2026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F804-77FA-47D1-B338-5356710F14E7}" type="datetime1">
              <a:rPr lang="ru-RU" smtClean="0"/>
              <a:t>16.04.2026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0962A-0F3E-4571-BE74-EAE82BBCA4D4}" type="datetime1">
              <a:rPr lang="ru-RU" smtClean="0"/>
              <a:t>16.04.2026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F18B-B19E-42B8-9D9E-101535B049A4}" type="datetime1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6D81C-426E-4E9E-9390-F0B26C742F84}" type="datetime1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7F776-1599-49BC-ACD6-65A87CD34868}" type="datetime1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D979-18FC-4FF6-ABF9-7BDD1129789B}" type="datetime1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131EB-79B3-4D7C-8CDF-4C3C6A8D1C28}" type="datetime1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1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5411586" cy="1458884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Технология реверс-инжиниринга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3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089862"/>
            <a:ext cx="6201296" cy="21239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Бикбавов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Дамир, Кручинин Игорь ТКИ-341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д.т.н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Сидоренко Валентина Геннадьевна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к.т.н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748145" y="1243031"/>
            <a:ext cx="428936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Исходная программ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3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Программа на С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- 4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AutoNum type="arabicPeriod"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ILSpy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5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-6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449263" indent="-449263">
              <a:buAutoNum type="arabicPeriod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.NET Reflector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7-8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Сравнение – 9-11 стр.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FontTx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Расчет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12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FontTx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Выводы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13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342900" indent="-342900">
              <a:buFontTx/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Исходная программа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DFCA2-4BEA-4CC8-8B28-81CA3AC49A27}"/>
              </a:ext>
            </a:extLst>
          </p:cNvPr>
          <p:cNvSpPr txBox="1"/>
          <p:nvPr/>
        </p:nvSpPr>
        <p:spPr>
          <a:xfrm>
            <a:off x="4819633" y="5781580"/>
            <a:ext cx="3574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Исходный код на С++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6FA78F-270B-D20C-16D3-569B9AECD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869949"/>
            <a:ext cx="3404118" cy="56229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9CF8675-9504-BBD7-CFD1-905C6E8608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4742" y="1005840"/>
            <a:ext cx="3591214" cy="573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56BF7C4-E4DD-48B8-AC1F-56418935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AE61FC9-4278-4C7E-B894-D790F73AFD74}"/>
              </a:ext>
            </a:extLst>
          </p:cNvPr>
          <p:cNvSpPr txBox="1">
            <a:spLocks/>
          </p:cNvSpPr>
          <p:nvPr/>
        </p:nvSpPr>
        <p:spPr>
          <a:xfrm>
            <a:off x="241539" y="365126"/>
            <a:ext cx="6342141" cy="315947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Программа на языке С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#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, переведённая с языка С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++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при помощи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AI code converter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C650A-654B-7E08-2617-257C6307CD52}"/>
              </a:ext>
            </a:extLst>
          </p:cNvPr>
          <p:cNvSpPr txBox="1"/>
          <p:nvPr/>
        </p:nvSpPr>
        <p:spPr>
          <a:xfrm>
            <a:off x="4293326" y="6015493"/>
            <a:ext cx="3605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Конвертированный код на язык </a:t>
            </a:r>
            <a:r>
              <a:rPr lang="en-US" dirty="0"/>
              <a:t>C#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FFB054-8EAE-DB14-6259-85EA21557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835" y="1621380"/>
            <a:ext cx="6342141" cy="439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55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0526" y="319605"/>
            <a:ext cx="10515600" cy="640714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ILSpy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C630-070F-4819-ACFA-E5C7D457FC78}"/>
              </a:ext>
            </a:extLst>
          </p:cNvPr>
          <p:cNvSpPr txBox="1"/>
          <p:nvPr/>
        </p:nvSpPr>
        <p:spPr>
          <a:xfrm>
            <a:off x="3320754" y="6242618"/>
            <a:ext cx="682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Ассемблерный листинг</a:t>
            </a:r>
            <a:r>
              <a:rPr lang="en-US" dirty="0"/>
              <a:t> </a:t>
            </a:r>
            <a:r>
              <a:rPr lang="ru-RU" dirty="0"/>
              <a:t> – дизассемблированный код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DFCA2-4BEA-4CC8-8B28-81CA3AC49A27}"/>
              </a:ext>
            </a:extLst>
          </p:cNvPr>
          <p:cNvSpPr txBox="1"/>
          <p:nvPr/>
        </p:nvSpPr>
        <p:spPr>
          <a:xfrm>
            <a:off x="7215447" y="4455622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393AF4B-B1A8-1720-0A78-357ABAA8B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BF092C8-40F7-54A3-E192-8E527BD7E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62" y="1081418"/>
            <a:ext cx="10579437" cy="509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5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0BEC60F-56D6-9AEE-D9B6-B2795BF11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56F443-4237-7C8F-4E97-D9CB5AE1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15E23EF-A18E-CC98-3C3C-9F2FD32F9907}"/>
              </a:ext>
            </a:extLst>
          </p:cNvPr>
          <p:cNvSpPr txBox="1">
            <a:spLocks/>
          </p:cNvSpPr>
          <p:nvPr/>
        </p:nvSpPr>
        <p:spPr>
          <a:xfrm>
            <a:off x="838200" y="463209"/>
            <a:ext cx="10515600" cy="640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ILSpy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B80F74B8-0610-6DAB-C5EF-1BBB6A0EF8B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3F7EB-BA22-780C-4F56-9606A0A0CFB6}"/>
              </a:ext>
            </a:extLst>
          </p:cNvPr>
          <p:cNvSpPr txBox="1"/>
          <p:nvPr/>
        </p:nvSpPr>
        <p:spPr>
          <a:xfrm>
            <a:off x="7215447" y="4455622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426A6-CF97-9A55-1426-863377485058}"/>
              </a:ext>
            </a:extLst>
          </p:cNvPr>
          <p:cNvSpPr txBox="1"/>
          <p:nvPr/>
        </p:nvSpPr>
        <p:spPr>
          <a:xfrm>
            <a:off x="4424902" y="6251568"/>
            <a:ext cx="6094674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c#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код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82C879F-FE16-7E9F-5769-73B35085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75" y="1103923"/>
            <a:ext cx="10960359" cy="516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6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.NET Reflector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0D50B-034F-43C6-9164-79FCB844C4DD}"/>
              </a:ext>
            </a:extLst>
          </p:cNvPr>
          <p:cNvSpPr txBox="1"/>
          <p:nvPr/>
        </p:nvSpPr>
        <p:spPr>
          <a:xfrm>
            <a:off x="482138" y="5975515"/>
            <a:ext cx="5719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Ассемблерный листинг – дизассемблированный код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A3692-C78E-49E4-B26F-444CFCEB932E}"/>
              </a:ext>
            </a:extLst>
          </p:cNvPr>
          <p:cNvSpPr txBox="1"/>
          <p:nvPr/>
        </p:nvSpPr>
        <p:spPr>
          <a:xfrm>
            <a:off x="7215447" y="4455622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5E522BC-D18A-E77B-81C2-558CDC3BE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13" y="4824954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AB7BDE9-932F-3237-4088-ED978CA4BF9C}"/>
              </a:ext>
            </a:extLst>
          </p:cNvPr>
          <p:cNvSpPr/>
          <p:nvPr/>
        </p:nvSpPr>
        <p:spPr>
          <a:xfrm>
            <a:off x="421373" y="6372972"/>
            <a:ext cx="568777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dirty="0">
                <a:ln w="0"/>
                <a:latin typeface="Aptos" panose="020B0004020202020204" pitchFamily="34" charset="0"/>
              </a:rPr>
              <a:t>Ассемблерный листинг – дизассемблированный код</a:t>
            </a:r>
            <a:endParaRPr lang="ru-RU" b="0" cap="none" spc="0" dirty="0">
              <a:ln w="0"/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598DD2-52ED-BBFF-4296-2BFFC6877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12" y="994818"/>
            <a:ext cx="11243388" cy="53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8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4EB6E4-091B-3BC1-F4E1-10116725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B0CEA76-DF7A-5353-A352-14A7F251D21D}"/>
              </a:ext>
            </a:extLst>
          </p:cNvPr>
          <p:cNvSpPr txBox="1">
            <a:spLocks/>
          </p:cNvSpPr>
          <p:nvPr/>
        </p:nvSpPr>
        <p:spPr>
          <a:xfrm>
            <a:off x="838199" y="443251"/>
            <a:ext cx="10515600" cy="800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.NET Reflector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A5C137A9-67C1-0515-4230-82A6D0F5985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70A17-5F2A-D238-0328-A2707414D5E1}"/>
              </a:ext>
            </a:extLst>
          </p:cNvPr>
          <p:cNvSpPr txBox="1"/>
          <p:nvPr/>
        </p:nvSpPr>
        <p:spPr>
          <a:xfrm>
            <a:off x="4607420" y="6127234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843110-2C8D-3026-127C-413749674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968" y="1575241"/>
            <a:ext cx="5630061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9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F295D3-01A3-7A72-16A8-7B601FA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F64E722-EC60-1BC8-029B-D0E1E5A1CF36}"/>
              </a:ext>
            </a:extLst>
          </p:cNvPr>
          <p:cNvSpPr txBox="1">
            <a:spLocks/>
          </p:cNvSpPr>
          <p:nvPr/>
        </p:nvSpPr>
        <p:spPr>
          <a:xfrm>
            <a:off x="861060" y="365125"/>
            <a:ext cx="5162550" cy="912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СРАВНЕНИЕ </a:t>
            </a:r>
            <a:r>
              <a:rPr lang="ru-RU" sz="2800" dirty="0">
                <a:ln w="0"/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дизассемблированных кодов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ru-RU" sz="2800" dirty="0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A6D08FD8-4A4F-2637-5ECE-2DE3367DCE92}"/>
              </a:ext>
            </a:extLst>
          </p:cNvPr>
          <p:cNvSpPr txBox="1">
            <a:spLocks/>
          </p:cNvSpPr>
          <p:nvPr/>
        </p:nvSpPr>
        <p:spPr>
          <a:xfrm>
            <a:off x="86334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9059480-CC92-E8E1-2C4D-A370ED741F72}"/>
              </a:ext>
            </a:extLst>
          </p:cNvPr>
          <p:cNvSpPr/>
          <p:nvPr/>
        </p:nvSpPr>
        <p:spPr>
          <a:xfrm>
            <a:off x="2749597" y="6378733"/>
            <a:ext cx="78329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cs typeface="Arial" panose="020B0604020202020204" pitchFamily="34" charset="0"/>
              </a:rPr>
              <a:t>ILSpy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DE87A5-6ECE-6D28-CBEA-B243CF2ABD3F}"/>
              </a:ext>
            </a:extLst>
          </p:cNvPr>
          <p:cNvSpPr txBox="1"/>
          <p:nvPr/>
        </p:nvSpPr>
        <p:spPr>
          <a:xfrm>
            <a:off x="5010150" y="64064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.Net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Reflector</a:t>
            </a:r>
            <a:endParaRPr lang="ru-RU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7EEB96-2F80-2B89-E7E7-7E4F18AD5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745" y="1136411"/>
            <a:ext cx="7182255" cy="5165677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B2F279B-1CA9-D308-6D93-A46E31E0F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7454"/>
            <a:ext cx="5043555" cy="530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40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B0AC39-E1AC-E85F-3526-53D3C530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88DB80-FAE2-57FD-8E24-1D2D822F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11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D48B4DF-3C91-A0EF-4689-90C50718780F}"/>
              </a:ext>
            </a:extLst>
          </p:cNvPr>
          <p:cNvSpPr txBox="1">
            <a:spLocks/>
          </p:cNvSpPr>
          <p:nvPr/>
        </p:nvSpPr>
        <p:spPr>
          <a:xfrm>
            <a:off x="861060" y="365125"/>
            <a:ext cx="5844540" cy="1013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СРАВНЕНИЕ </a:t>
            </a:r>
            <a:r>
              <a:rPr lang="ru-RU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декомпилированных</a:t>
            </a: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кодов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endParaRPr lang="ru-RU" sz="2800" dirty="0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80AE8D9D-E8BF-E295-6EED-2803E869D414}"/>
              </a:ext>
            </a:extLst>
          </p:cNvPr>
          <p:cNvSpPr txBox="1">
            <a:spLocks/>
          </p:cNvSpPr>
          <p:nvPr/>
        </p:nvSpPr>
        <p:spPr>
          <a:xfrm>
            <a:off x="8633460" y="6356350"/>
            <a:ext cx="995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D77FF8-6B81-FC09-107E-8C3948C1C8E5}"/>
              </a:ext>
            </a:extLst>
          </p:cNvPr>
          <p:cNvSpPr/>
          <p:nvPr/>
        </p:nvSpPr>
        <p:spPr>
          <a:xfrm>
            <a:off x="951547" y="1802605"/>
            <a:ext cx="158433" cy="22383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D34FF79-19D4-6A46-EB7C-8E06A27C1FF1}"/>
              </a:ext>
            </a:extLst>
          </p:cNvPr>
          <p:cNvSpPr/>
          <p:nvPr/>
        </p:nvSpPr>
        <p:spPr>
          <a:xfrm>
            <a:off x="949959" y="3071813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5B5C71-370C-71AB-2BE3-68BC03F0868D}"/>
              </a:ext>
            </a:extLst>
          </p:cNvPr>
          <p:cNvSpPr/>
          <p:nvPr/>
        </p:nvSpPr>
        <p:spPr>
          <a:xfrm>
            <a:off x="949959" y="3381374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65C6AB-8F93-DE7D-AFD2-AFD237C44E29}"/>
              </a:ext>
            </a:extLst>
          </p:cNvPr>
          <p:cNvSpPr/>
          <p:nvPr/>
        </p:nvSpPr>
        <p:spPr>
          <a:xfrm>
            <a:off x="949959" y="360203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C19539-D990-62A5-D60D-72174B85AAF6}"/>
              </a:ext>
            </a:extLst>
          </p:cNvPr>
          <p:cNvSpPr/>
          <p:nvPr/>
        </p:nvSpPr>
        <p:spPr>
          <a:xfrm>
            <a:off x="949959" y="3983036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128A31-6124-D454-21E4-7B7AA071B98C}"/>
              </a:ext>
            </a:extLst>
          </p:cNvPr>
          <p:cNvSpPr/>
          <p:nvPr/>
        </p:nvSpPr>
        <p:spPr>
          <a:xfrm>
            <a:off x="951547" y="420290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7D18737-7D4D-4DEC-BC2A-5C349F3D3146}"/>
              </a:ext>
            </a:extLst>
          </p:cNvPr>
          <p:cNvSpPr/>
          <p:nvPr/>
        </p:nvSpPr>
        <p:spPr>
          <a:xfrm>
            <a:off x="2749597" y="6378733"/>
            <a:ext cx="78329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cs typeface="Arial" panose="020B0604020202020204" pitchFamily="34" charset="0"/>
              </a:rPr>
              <a:t>ILSpy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6E369A-11B2-7CEE-035B-FF3E274C1CE0}"/>
              </a:ext>
            </a:extLst>
          </p:cNvPr>
          <p:cNvSpPr/>
          <p:nvPr/>
        </p:nvSpPr>
        <p:spPr>
          <a:xfrm>
            <a:off x="949958" y="2434508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1C8EF91-F25D-C101-1FCC-88B102094998}"/>
              </a:ext>
            </a:extLst>
          </p:cNvPr>
          <p:cNvSpPr/>
          <p:nvPr/>
        </p:nvSpPr>
        <p:spPr>
          <a:xfrm>
            <a:off x="810962" y="5219457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F812D-CE2B-960D-68E0-9FD84C4BEBB9}"/>
              </a:ext>
            </a:extLst>
          </p:cNvPr>
          <p:cNvSpPr txBox="1"/>
          <p:nvPr/>
        </p:nvSpPr>
        <p:spPr>
          <a:xfrm>
            <a:off x="6319067" y="6405561"/>
            <a:ext cx="4680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.Net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Reflector</a:t>
            </a:r>
            <a:endParaRPr lang="ru-RU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BF358E-EBC1-0DBC-8BF2-B86976928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180" y="1825625"/>
            <a:ext cx="5888165" cy="420354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37421B2-6939-840B-1AE9-9B0522495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5625"/>
            <a:ext cx="6157942" cy="420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9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Расчет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C630-070F-4819-ACFA-E5C7D457FC78}"/>
              </a:ext>
            </a:extLst>
          </p:cNvPr>
          <p:cNvSpPr txBox="1"/>
          <p:nvPr/>
        </p:nvSpPr>
        <p:spPr>
          <a:xfrm>
            <a:off x="507901" y="1084570"/>
            <a:ext cx="1882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Dump </a:t>
            </a:r>
            <a:r>
              <a:rPr lang="ru-RU" dirty="0"/>
              <a:t>в </a:t>
            </a:r>
            <a:r>
              <a:rPr lang="en-US" dirty="0"/>
              <a:t>010 Editor.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94C42-19F7-4305-A55A-4F8B3B22B297}"/>
              </a:ext>
            </a:extLst>
          </p:cNvPr>
          <p:cNvSpPr txBox="1"/>
          <p:nvPr/>
        </p:nvSpPr>
        <p:spPr>
          <a:xfrm>
            <a:off x="7281949" y="3765665"/>
            <a:ext cx="3524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Данные о файле </a:t>
            </a:r>
            <a:r>
              <a:rPr lang="en-US" dirty="0"/>
              <a:t>DLI </a:t>
            </a:r>
            <a:r>
              <a:rPr lang="ru-RU" dirty="0"/>
              <a:t>кода </a:t>
            </a:r>
            <a:r>
              <a:rPr lang="en-US" dirty="0"/>
              <a:t>C#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0BB425-55A1-6441-5AB6-7A7EC7089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04" y="4518901"/>
            <a:ext cx="4987496" cy="944601"/>
          </a:xfrm>
          <a:prstGeom prst="rect">
            <a:avLst/>
          </a:prstGeom>
        </p:spPr>
      </p:pic>
      <p:sp>
        <p:nvSpPr>
          <p:cNvPr id="8" name="Объект 7">
            <a:extLst>
              <a:ext uri="{FF2B5EF4-FFF2-40B4-BE49-F238E27FC236}">
                <a16:creationId xmlns:a16="http://schemas.microsoft.com/office/drawing/2014/main" id="{9516C0F9-91CE-8D53-DE8F-AAF4CD31D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504" y="2296032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7D7791-21E8-FE81-F1D7-636FCEC66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536" y="1730901"/>
            <a:ext cx="4662207" cy="501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38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8FDB0B-C72C-AA8B-6046-A19D7FD7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Расчет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103BE-C3CD-D620-5FBA-F954DDC06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Dump </a:t>
            </a:r>
            <a:r>
              <a:rPr lang="ru-RU" dirty="0"/>
              <a:t>в </a:t>
            </a:r>
            <a:r>
              <a:rPr lang="en-US" dirty="0"/>
              <a:t>010 Editor                                         </a:t>
            </a:r>
            <a:r>
              <a:rPr lang="ru-RU" dirty="0"/>
              <a:t>Энтропия в </a:t>
            </a:r>
            <a:r>
              <a:rPr lang="en-US" dirty="0"/>
              <a:t>010 Editor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77BAFE-5DE4-E70C-F609-810A48AB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30C07D-D644-59AD-1FBB-2E8F72FA38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05"/>
          <a:stretch>
            <a:fillRect/>
          </a:stretch>
        </p:blipFill>
        <p:spPr>
          <a:xfrm>
            <a:off x="189657" y="2210590"/>
            <a:ext cx="4483944" cy="45108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C1918A5-9E0D-19C4-E7B2-8F486EB26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672" y="2448681"/>
            <a:ext cx="6869856" cy="363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12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Выводы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9D3473F-405A-4C6F-997B-A3443C111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Автоматизированная конвертация исходного кода из C++ в C# была выполнена успешно с первой попытки, не потребовав дополнительных итераций исправления логики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r>
              <a:rPr lang="ru-RU" dirty="0"/>
              <a:t>При сопоставлении результатов декомпиляции в </a:t>
            </a:r>
            <a:r>
              <a:rPr lang="ru-RU" dirty="0" err="1"/>
              <a:t>ILSpy</a:t>
            </a:r>
            <a:r>
              <a:rPr lang="ru-RU" dirty="0"/>
              <a:t> и .NET </a:t>
            </a:r>
            <a:r>
              <a:rPr lang="ru-RU" dirty="0" err="1"/>
              <a:t>Reflector</a:t>
            </a:r>
            <a:r>
              <a:rPr lang="ru-RU" dirty="0"/>
              <a:t> была отмечена высокая степень идентичности восстановленного кода. И с точки зрения эргономики и интуитивности интерфейса .NET </a:t>
            </a:r>
            <a:r>
              <a:rPr lang="ru-RU" dirty="0" err="1"/>
              <a:t>Reflector</a:t>
            </a:r>
            <a:r>
              <a:rPr lang="ru-RU" dirty="0"/>
              <a:t> и </a:t>
            </a:r>
            <a:r>
              <a:rPr lang="ru-RU" dirty="0" err="1"/>
              <a:t>ILSpy</a:t>
            </a:r>
            <a:r>
              <a:rPr lang="ru-RU" dirty="0"/>
              <a:t> продемонстрировали одинаковую </a:t>
            </a:r>
            <a:r>
              <a:rPr lang="ru-RU"/>
              <a:t>степень удобства.</a:t>
            </a:r>
            <a:endParaRPr lang="ru-RU" dirty="0"/>
          </a:p>
          <a:p>
            <a:r>
              <a:rPr lang="ru-RU" dirty="0"/>
              <a:t>Выявлены различия в представлении промежуточного кода: .NET </a:t>
            </a:r>
            <a:r>
              <a:rPr lang="ru-RU" dirty="0" err="1"/>
              <a:t>Reflector</a:t>
            </a:r>
            <a:r>
              <a:rPr lang="ru-RU" dirty="0"/>
              <a:t> использует префикс меток </a:t>
            </a:r>
            <a:r>
              <a:rPr lang="en-US" dirty="0"/>
              <a:t>L_0000</a:t>
            </a:r>
            <a:r>
              <a:rPr lang="ru-RU" dirty="0"/>
              <a:t>, в то время как для </a:t>
            </a:r>
            <a:r>
              <a:rPr lang="ru-RU" dirty="0" err="1"/>
              <a:t>ILSpy</a:t>
            </a:r>
            <a:r>
              <a:rPr lang="ru-RU" dirty="0"/>
              <a:t> характерен </a:t>
            </a:r>
            <a:r>
              <a:rPr lang="en-US" dirty="0"/>
              <a:t>IL_0000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79500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</TotalTime>
  <Words>297</Words>
  <Application>Microsoft Office PowerPoint</Application>
  <PresentationFormat>Широкоэкранный</PresentationFormat>
  <Paragraphs>67</Paragraphs>
  <Slides>13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Black</vt:lpstr>
      <vt:lpstr>Calibri</vt:lpstr>
      <vt:lpstr>Calibri Light</vt:lpstr>
      <vt:lpstr>quote-cjk-patch</vt:lpstr>
      <vt:lpstr>Тема Office</vt:lpstr>
      <vt:lpstr>Технология реверс-инжиниринга Задание 3</vt:lpstr>
      <vt:lpstr>Оглавление</vt:lpstr>
      <vt:lpstr>Исходная программа</vt:lpstr>
      <vt:lpstr>Презентация PowerPoint</vt:lpstr>
      <vt:lpstr>ILSpy</vt:lpstr>
      <vt:lpstr>Презентация PowerPoint</vt:lpstr>
      <vt:lpstr>.NET Reflector</vt:lpstr>
      <vt:lpstr>Презентация PowerPoint</vt:lpstr>
      <vt:lpstr>Презентация PowerPoint</vt:lpstr>
      <vt:lpstr>Презентация PowerPoint</vt:lpstr>
      <vt:lpstr>Расчет</vt:lpstr>
      <vt:lpstr>Расчет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Бикбавов Дамир Русланович</cp:lastModifiedBy>
  <cp:revision>230</cp:revision>
  <dcterms:created xsi:type="dcterms:W3CDTF">2021-11-29T10:22:08Z</dcterms:created>
  <dcterms:modified xsi:type="dcterms:W3CDTF">2026-04-16T10:23:40Z</dcterms:modified>
</cp:coreProperties>
</file>