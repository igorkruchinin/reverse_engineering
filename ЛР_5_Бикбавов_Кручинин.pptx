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3"/>
    <p:sldId id="257" r:id="rId4"/>
    <p:sldId id="259" r:id="rId5"/>
    <p:sldId id="258" r:id="rId6"/>
    <p:sldId id="260" r:id="rId7"/>
    <p:sldId id="266" r:id="rId8"/>
    <p:sldId id="263" r:id="rId9"/>
    <p:sldId id="264" r:id="rId10"/>
    <p:sldId id="267" r:id="rId11"/>
    <p:sldId id="268" r:id="rId1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686" y="67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tags" Target="../tags/tag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tags" Target="../tags/tag5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tags" Target="../tags/tag6.xml"/><Relationship Id="rId1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4800" dirty="0"/>
              <a:t>Отчет по Лабораторной  работе </a:t>
            </a:r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№5</a:t>
            </a:r>
            <a:endParaRPr lang="ru-RU" sz="4800" dirty="0"/>
          </a:p>
        </p:txBody>
      </p:sp>
      <p:sp>
        <p:nvSpPr>
          <p:cNvPr id="4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624830" y="4892040"/>
            <a:ext cx="6400800" cy="1752600"/>
          </a:xfrm>
        </p:spPr>
        <p:txBody>
          <a:bodyPr>
            <a:normAutofit fontScale="75000" lnSpcReduction="20000"/>
          </a:bodyPr>
          <a:lstStyle/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Подготовили: </a:t>
            </a:r>
            <a:r>
              <a:rPr lang="ru-RU" sz="2000" dirty="0" err="1">
                <a:latin typeface="+mj-lt"/>
                <a:ea typeface="+mj-ea"/>
                <a:cs typeface="+mj-cs"/>
              </a:rPr>
              <a:t>Бикбавов</a:t>
            </a:r>
            <a:r>
              <a:rPr lang="ru-RU" sz="2000" dirty="0">
                <a:latin typeface="+mj-lt"/>
                <a:ea typeface="+mj-ea"/>
                <a:cs typeface="+mj-cs"/>
              </a:rPr>
              <a:t> Дамир, Кручинин Игорь</a:t>
            </a:r>
            <a:endParaRPr lang="ru-RU" sz="2000" dirty="0">
              <a:latin typeface="+mj-lt"/>
              <a:ea typeface="+mj-ea"/>
              <a:cs typeface="+mj-cs"/>
            </a:endParaRP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ТКИ-341.</a:t>
            </a:r>
            <a:endParaRPr lang="ru-RU" sz="2000" dirty="0">
              <a:latin typeface="+mj-lt"/>
              <a:ea typeface="+mj-ea"/>
              <a:cs typeface="+mj-cs"/>
            </a:endParaRP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Проверили: Сидоренко Валентина Геннадиевна – проф</a:t>
            </a:r>
            <a:r>
              <a:rPr lang="en-US" altLang="ru-RU" sz="2000" dirty="0">
                <a:latin typeface="+mj-lt"/>
                <a:ea typeface="+mj-ea"/>
                <a:cs typeface="+mj-cs"/>
              </a:rPr>
              <a:t>ессор</a:t>
            </a:r>
            <a:r>
              <a:rPr lang="ru-RU" sz="2000" dirty="0">
                <a:latin typeface="+mj-lt"/>
                <a:ea typeface="+mj-ea"/>
                <a:cs typeface="+mj-cs"/>
              </a:rPr>
              <a:t>., доктор технических наук</a:t>
            </a:r>
            <a:endParaRPr lang="ru-RU" sz="2000" dirty="0">
              <a:latin typeface="+mj-lt"/>
              <a:ea typeface="+mj-ea"/>
              <a:cs typeface="+mj-cs"/>
            </a:endParaRP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Сафронов Антон Игоревич – доцент, кандидат технических наук.</a:t>
            </a:r>
            <a:endParaRPr lang="ru-RU" sz="2000" dirty="0">
              <a:latin typeface="+mj-lt"/>
              <a:ea typeface="+mj-ea"/>
              <a:cs typeface="+mj-cs"/>
            </a:endParaRPr>
          </a:p>
          <a:p>
            <a:pPr algn="r"/>
            <a:r>
              <a:rPr lang="ru-RU" sz="2000" dirty="0">
                <a:latin typeface="+mj-lt"/>
                <a:ea typeface="+mj-ea"/>
                <a:cs typeface="+mj-cs"/>
              </a:rPr>
              <a:t> </a:t>
            </a:r>
            <a:endParaRPr lang="ru-RU" sz="2000" dirty="0"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46580" y="-104775"/>
            <a:ext cx="8183245" cy="1015365"/>
          </a:xfrm>
        </p:spPr>
        <p:txBody>
          <a:bodyPr>
            <a:normAutofit fontScale="90000"/>
          </a:bodyPr>
          <a:lstStyle/>
          <a:p>
            <a:br>
              <a:rPr lang="ru-RU" sz="3200" b="1" dirty="0"/>
            </a:br>
            <a:br>
              <a:rPr lang="ru-RU" sz="3200" b="1" dirty="0"/>
            </a:br>
            <a:r>
              <a:rPr lang="ru-RU" sz="3200" b="1" dirty="0"/>
              <a:t>Запуск исследуемого файла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5092293" y="5420860"/>
            <a:ext cx="3811270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ru-RU" dirty="0"/>
              <a:t> Запуск программы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1"/>
          <a:srcRect l="1445"/>
          <a:stretch>
            <a:fillRect/>
          </a:stretch>
        </p:blipFill>
        <p:spPr>
          <a:xfrm>
            <a:off x="3986074" y="1926454"/>
            <a:ext cx="4282658" cy="25796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103505" y="162560"/>
            <a:ext cx="11889740" cy="1044575"/>
          </a:xfrm>
        </p:spPr>
        <p:txBody>
          <a:bodyPr>
            <a:normAutofit/>
          </a:bodyPr>
          <a:lstStyle/>
          <a:p>
            <a:r>
              <a:rPr lang="ru-RU" altLang="ru-RU" sz="3200" b="1" dirty="0"/>
              <a:t>Исследование файла и нахождение основных функций</a:t>
            </a:r>
            <a:endParaRPr lang="ru-RU" alt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371975" y="5854700"/>
            <a:ext cx="4337050" cy="435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ru-RU" dirty="0"/>
              <a:t>Основные функции программы</a:t>
            </a:r>
            <a:endParaRPr lang="ru-RU" dirty="0"/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1975" y="2803525"/>
            <a:ext cx="3448050" cy="24003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366" y="1415861"/>
            <a:ext cx="3715268" cy="4229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964055" y="-123825"/>
            <a:ext cx="8610600" cy="1015365"/>
          </a:xfrm>
        </p:spPr>
        <p:txBody>
          <a:bodyPr>
            <a:normAutofit/>
          </a:bodyPr>
          <a:lstStyle/>
          <a:p>
            <a:r>
              <a:rPr lang="ru-RU" sz="3200" b="1" dirty="0"/>
              <a:t>Дизассемблирование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363573" y="5814935"/>
            <a:ext cx="3811270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Дизассемблированный </a:t>
            </a:r>
            <a:r>
              <a:rPr lang="en-US" dirty="0"/>
              <a:t>main</a:t>
            </a:r>
            <a:endParaRPr lang="en-US" dirty="0"/>
          </a:p>
        </p:txBody>
      </p:sp>
      <p:sp>
        <p:nvSpPr>
          <p:cNvPr id="7" name="TextBox 7"/>
          <p:cNvSpPr txBox="1"/>
          <p:nvPr/>
        </p:nvSpPr>
        <p:spPr>
          <a:xfrm>
            <a:off x="7016750" y="5226050"/>
            <a:ext cx="3811270" cy="3873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3045" y="891306"/>
            <a:ext cx="6992326" cy="48298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943225" y="-126365"/>
            <a:ext cx="7080250" cy="1015365"/>
          </a:xfrm>
        </p:spPr>
        <p:txBody>
          <a:bodyPr>
            <a:normAutofit/>
          </a:bodyPr>
          <a:lstStyle/>
          <a:p>
            <a:r>
              <a:rPr lang="ru-RU" sz="3200" b="1" dirty="0"/>
              <a:t>Дизассемблирование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>
            <p:custDataLst>
              <p:tags r:id="rId1"/>
            </p:custDataLst>
          </p:nvPr>
        </p:nvSpPr>
        <p:spPr>
          <a:xfrm>
            <a:off x="3886200" y="5969000"/>
            <a:ext cx="4419600" cy="444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Дизассемблирование функции </a:t>
            </a:r>
            <a:r>
              <a:rPr lang="en-US" dirty="0" err="1"/>
              <a:t>swprintf</a:t>
            </a:r>
            <a:endParaRPr lang="en-US" alt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808" y="966499"/>
            <a:ext cx="6930009" cy="49250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633470" y="-222885"/>
            <a:ext cx="5041900" cy="1015365"/>
          </a:xfrm>
        </p:spPr>
        <p:txBody>
          <a:bodyPr>
            <a:normAutofit/>
          </a:bodyPr>
          <a:lstStyle/>
          <a:p>
            <a:r>
              <a:rPr lang="ru-RU" sz="3200" b="1" dirty="0"/>
              <a:t>Дамп памяти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11" name="TextBox 7"/>
          <p:cNvSpPr txBox="1"/>
          <p:nvPr>
            <p:custDataLst>
              <p:tags r:id="rId1"/>
            </p:custDataLst>
          </p:nvPr>
        </p:nvSpPr>
        <p:spPr>
          <a:xfrm>
            <a:off x="3805394" y="5653455"/>
            <a:ext cx="4419600" cy="444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</a:t>
            </a:r>
            <a:r>
              <a:rPr lang="en-US" dirty="0"/>
              <a:t>hex </a:t>
            </a:r>
            <a:r>
              <a:rPr lang="ru-RU" dirty="0"/>
              <a:t>дамп 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9257" y="713875"/>
            <a:ext cx="5873485" cy="4859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018665" y="-84455"/>
            <a:ext cx="6523990" cy="1015365"/>
          </a:xfrm>
        </p:spPr>
        <p:txBody>
          <a:bodyPr>
            <a:normAutofit/>
          </a:bodyPr>
          <a:lstStyle/>
          <a:p>
            <a:r>
              <a:rPr lang="ru-RU" sz="3200" b="1"/>
              <a:t>Декомпилирование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>
            <p:custDataLst>
              <p:tags r:id="rId1"/>
            </p:custDataLst>
          </p:nvPr>
        </p:nvSpPr>
        <p:spPr>
          <a:xfrm>
            <a:off x="3886200" y="5969000"/>
            <a:ext cx="4419600" cy="444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Декомпилирование </a:t>
            </a:r>
            <a:r>
              <a:rPr lang="en-US" dirty="0"/>
              <a:t>main</a:t>
            </a:r>
            <a:endParaRPr lang="en-US" dirty="0"/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058545"/>
            <a:ext cx="5392420" cy="4097655"/>
          </a:xfrm>
          <a:prstGeom prst="rect">
            <a:avLst/>
          </a:prstGeom>
        </p:spPr>
      </p:pic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440" y="1144905"/>
            <a:ext cx="5877560" cy="3924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237740" y="-103505"/>
            <a:ext cx="6792595" cy="1015365"/>
          </a:xfrm>
        </p:spPr>
        <p:txBody>
          <a:bodyPr>
            <a:normAutofit/>
          </a:bodyPr>
          <a:lstStyle/>
          <a:p>
            <a:r>
              <a:rPr lang="ru-RU" sz="3200" b="1" dirty="0"/>
              <a:t>Декомпилирование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8" name="TextBox 7"/>
          <p:cNvSpPr txBox="1"/>
          <p:nvPr>
            <p:custDataLst>
              <p:tags r:id="rId1"/>
            </p:custDataLst>
          </p:nvPr>
        </p:nvSpPr>
        <p:spPr>
          <a:xfrm>
            <a:off x="3790315" y="5122545"/>
            <a:ext cx="461073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Декомпилирование </a:t>
            </a:r>
            <a:endParaRPr lang="ru-RU" dirty="0"/>
          </a:p>
          <a:p>
            <a:pPr algn="ctr"/>
            <a:r>
              <a:rPr lang="ru-RU" altLang="en-US" dirty="0"/>
              <a:t>функции </a:t>
            </a:r>
            <a:r>
              <a:rPr lang="en-US" altLang="en-US" dirty="0" err="1"/>
              <a:t>swprintf</a:t>
            </a:r>
            <a:endParaRPr lang="en-US" altLang="en-US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072" y="2090550"/>
            <a:ext cx="9897856" cy="26768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210820" y="94615"/>
            <a:ext cx="12280265" cy="518160"/>
          </a:xfrm>
        </p:spPr>
        <p:txBody>
          <a:bodyPr>
            <a:normAutofit fontScale="90000"/>
          </a:bodyPr>
          <a:lstStyle/>
          <a:p>
            <a:r>
              <a:rPr lang="ru-RU" sz="2665" b="1" dirty="0"/>
              <a:t>Восстановленный код</a:t>
            </a:r>
            <a:r>
              <a:rPr lang="en-US" altLang="ru-RU" sz="2665" b="1" dirty="0"/>
              <a:t> </a:t>
            </a:r>
            <a:r>
              <a:rPr lang="ru-RU" sz="2665" b="1" dirty="0"/>
              <a:t>программы </a:t>
            </a:r>
            <a:endParaRPr lang="ru-RU" sz="2665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sp>
        <p:nvSpPr>
          <p:cNvPr id="11" name="TextBox 7"/>
          <p:cNvSpPr txBox="1"/>
          <p:nvPr>
            <p:custDataLst>
              <p:tags r:id="rId1"/>
            </p:custDataLst>
          </p:nvPr>
        </p:nvSpPr>
        <p:spPr>
          <a:xfrm>
            <a:off x="637540" y="3274060"/>
            <a:ext cx="461073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 Восстановленный </a:t>
            </a:r>
            <a:endParaRPr lang="ru-RU" dirty="0"/>
          </a:p>
          <a:p>
            <a:pPr algn="ctr"/>
            <a:r>
              <a:rPr lang="ru-RU" dirty="0"/>
              <a:t>изначальный код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500" y="667385"/>
            <a:ext cx="3518535" cy="59366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0"/>
            <a:ext cx="12106910" cy="1156970"/>
          </a:xfrm>
        </p:spPr>
        <p:txBody>
          <a:bodyPr>
            <a:normAutofit/>
          </a:bodyPr>
          <a:lstStyle/>
          <a:p>
            <a:r>
              <a:rPr lang="ru-RU" sz="3200" b="1" dirty="0"/>
              <a:t>Пример работы восстановленного кода программы </a:t>
            </a:r>
            <a:endParaRPr lang="ru-RU" sz="3200" b="1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 dirty="0"/>
          </a:p>
        </p:txBody>
      </p:sp>
      <p:pic>
        <p:nvPicPr>
          <p:cNvPr id="3" name="Изображение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8340" y="2429510"/>
            <a:ext cx="3195320" cy="1998345"/>
          </a:xfrm>
          <a:prstGeom prst="rect">
            <a:avLst/>
          </a:prstGeom>
        </p:spPr>
      </p:pic>
      <p:sp>
        <p:nvSpPr>
          <p:cNvPr id="4" name="TextBox 7"/>
          <p:cNvSpPr txBox="1"/>
          <p:nvPr>
            <p:custDataLst>
              <p:tags r:id="rId2"/>
            </p:custDataLst>
          </p:nvPr>
        </p:nvSpPr>
        <p:spPr>
          <a:xfrm>
            <a:off x="3790631" y="4667552"/>
            <a:ext cx="4610735" cy="654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ru-RU" dirty="0"/>
              <a:t>Запуск</a:t>
            </a:r>
            <a:r>
              <a:rPr lang="en-US" dirty="0"/>
              <a:t> </a:t>
            </a:r>
            <a:r>
              <a:rPr lang="ru-RU" dirty="0" err="1"/>
              <a:t>востановленного</a:t>
            </a:r>
            <a:r>
              <a:rPr lang="ru-RU" dirty="0"/>
              <a:t> кода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392" y="2400156"/>
            <a:ext cx="3153215" cy="205768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ags/tag2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ags/tag3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ags/tag4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ags/tag5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ags/tag6.xml><?xml version="1.0" encoding="utf-8"?>
<p:tagLst xmlns:p="http://schemas.openxmlformats.org/presentationml/2006/main">
  <p:tag name="KSO_WM_DIAGRAM_VIRTUALLY_FRAME" val="{&quot;height&quot;:362.45,&quot;left&quot;:6.8,&quot;top&quot;:142.55,&quot;width&quot;:923.0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695</Words>
  <Application>WPS Presentation</Application>
  <PresentationFormat>Широкоэкранный</PresentationFormat>
  <Paragraphs>64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SimSun</vt:lpstr>
      <vt:lpstr>Wingdings</vt:lpstr>
      <vt:lpstr>Calibri Light</vt:lpstr>
      <vt:lpstr>Times New Roman</vt:lpstr>
      <vt:lpstr>Microsoft YaHei</vt:lpstr>
      <vt:lpstr>Droid Sans Fallback</vt:lpstr>
      <vt:lpstr>Arial Unicode MS</vt:lpstr>
      <vt:lpstr>Calibri</vt:lpstr>
      <vt:lpstr>Trebuchet MS</vt:lpstr>
      <vt:lpstr>OpenSymbol</vt:lpstr>
      <vt:lpstr>Office Theme</vt:lpstr>
      <vt:lpstr>Отчет по Лабораторной  работе №5</vt:lpstr>
      <vt:lpstr>Запуск исследуемого файла</vt:lpstr>
      <vt:lpstr>Исследование файла и нахождение основных функций</vt:lpstr>
      <vt:lpstr>Дизассемблирование </vt:lpstr>
      <vt:lpstr>Дизассемблирование </vt:lpstr>
      <vt:lpstr>Дамп памяти </vt:lpstr>
      <vt:lpstr>Декомпилирование </vt:lpstr>
      <vt:lpstr>Декомпилирование </vt:lpstr>
      <vt:lpstr>Восстановленный код программы </vt:lpstr>
      <vt:lpstr>Пример работы восстановленного кода программы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I461</dc:creator>
  <cp:lastModifiedBy>user</cp:lastModifiedBy>
  <cp:revision>23</cp:revision>
  <dcterms:created xsi:type="dcterms:W3CDTF">2026-06-09T08:24:40Z</dcterms:created>
  <dcterms:modified xsi:type="dcterms:W3CDTF">2026-06-09T08:24:40Z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1049-11.1.0.11723</vt:lpwstr>
  </property>
  <property fmtid="{D5CDD505-2E9C-101B-9397-08002B2CF9AE}" pid="3" name="ICV">
    <vt:lpwstr>E9570D2E314C4FE9B5D2497FAA2293AB_13</vt:lpwstr>
  </property>
</Properties>
</file>