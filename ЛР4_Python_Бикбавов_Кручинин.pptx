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406" r:id="rId3"/>
    <p:sldId id="415" r:id="rId4"/>
    <p:sldId id="277" r:id="rId5"/>
    <p:sldId id="417" r:id="rId6"/>
    <p:sldId id="411" r:id="rId7"/>
    <p:sldId id="395" r:id="rId8"/>
    <p:sldId id="408" r:id="rId9"/>
    <p:sldId id="409" r:id="rId10"/>
    <p:sldId id="410" r:id="rId11"/>
    <p:sldId id="413" r:id="rId12"/>
    <p:sldId id="414" r:id="rId13"/>
    <p:sldId id="407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Вячеслав Луканкин" initials="ВЛ" lastIdx="1" clrIdx="0">
    <p:extLst>
      <p:ext uri="{19B8F6BF-5375-455C-9EA6-DF929625EA0E}">
        <p15:presenceInfo xmlns:p15="http://schemas.microsoft.com/office/powerpoint/2012/main" userId="6f027be5df5f3e5d" providerId="Windows Live"/>
      </p:ext>
    </p:extLst>
  </p:cmAuthor>
  <p:cmAuthor id="2" name="Kirill" initials="K" lastIdx="1" clrIdx="1">
    <p:extLst>
      <p:ext uri="{19B8F6BF-5375-455C-9EA6-DF929625EA0E}">
        <p15:presenceInfo xmlns:p15="http://schemas.microsoft.com/office/powerpoint/2012/main" userId="Kirill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428" autoAdjust="0"/>
    <p:restoredTop sz="94660"/>
  </p:normalViewPr>
  <p:slideViewPr>
    <p:cSldViewPr snapToGrid="0">
      <p:cViewPr varScale="1">
        <p:scale>
          <a:sx n="86" d="100"/>
          <a:sy n="86" d="100"/>
        </p:scale>
        <p:origin x="312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A40AD2-A484-41DE-BC06-FF4325DD9370}" type="datetimeFigureOut">
              <a:rPr lang="ru-RU" smtClean="0"/>
              <a:t>29.04.2026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38A1DE-1B09-4630-AD73-E75276FD1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3821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358A63-ABBF-475F-8942-5346544E51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7A071A9-1EAA-419C-ADE0-5541777059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9A5306-0BE0-4F25-9D1F-3E418A731F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BC9E1-008F-428F-8A9F-3C944305E04A}" type="datetime1">
              <a:rPr lang="ru-RU" smtClean="0"/>
              <a:t>29.04.2026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619166B-51E3-4BAB-AE8A-920E54BC3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4C8733A-FC1E-474E-9D39-9159D9630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45341-AD40-4D83-930C-9F0B02CE09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95332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7BE857-308E-4CEA-AF5F-99C9CB661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2556B8A-6F38-4DFC-8B2F-24A567E29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46FEE21-AFF9-482F-A8E4-44272C9A9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DC786-1C11-44A5-841D-7669A0A8111E}" type="datetime1">
              <a:rPr lang="ru-RU" smtClean="0"/>
              <a:t>29.04.2026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725EF61-9185-4FFE-A986-D95DE645A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571ACD-3238-4E36-8113-488E09F83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45341-AD40-4D83-930C-9F0B02CE09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29707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0896BA-5C88-4C07-B3D7-2044241D8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502A988-7CBA-4944-8381-F246055639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CF29DF6-955D-41E9-A057-474D62E1F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C6E36-1A35-4E09-9B75-6CCD6BD873F9}" type="datetime1">
              <a:rPr lang="ru-RU" smtClean="0"/>
              <a:t>29.04.2026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5944680-DDC4-4817-A45E-901E95494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EDBD49C-C91F-4C13-B31C-274F8DF34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45341-AD40-4D83-930C-9F0B02CE09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9784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FDB464-A9AB-402B-891A-22A2FC783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90F1E28-D346-453B-B7D6-F02B0819A8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BC014FE-AF55-4BA6-9CDE-A838B29B3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064BCED-6D25-4BEA-AB51-E62ABDD52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2A5CE-209B-41EE-850D-02E0F3A9AE55}" type="datetime1">
              <a:rPr lang="ru-RU" smtClean="0"/>
              <a:t>29.04.2026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BD33B8F-1A69-4569-9038-04B546406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7672E17-65F2-4C25-8099-280566671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45341-AD40-4D83-930C-9F0B02CE09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3903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FB15E0-82BF-4444-BB89-85283A661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F0EF1FB-AC4A-4E74-9A38-78AFCEED3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97EFEDF-D487-4B5E-AF66-6F339BEF83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6B51D8E-55F8-4662-A140-50A747E9EE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65794CF7-571A-4107-980E-667448295A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397E7D1-D709-442F-8019-1CCF97409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6D0FA-9E98-4D44-932C-E76CCAE0F896}" type="datetime1">
              <a:rPr lang="ru-RU" smtClean="0"/>
              <a:t>29.04.2026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0F53CF0-BDCD-4D90-A65E-D428622E9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9481C43-B42A-459A-B056-42E1BBCC7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45341-AD40-4D83-930C-9F0B02CE09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32813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87B466-CA56-4410-8E76-042EA4CDB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E028F0B-387D-4317-96A7-04617F418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BD9CF-0E86-4ACD-94E5-1BFFB7E28F09}" type="datetime1">
              <a:rPr lang="ru-RU" smtClean="0"/>
              <a:t>29.04.2026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486C09C-6D0F-49A1-BFC9-E4E818452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16AA7C5-B8FE-47C0-B86D-6AF5E45D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45341-AD40-4D83-930C-9F0B02CE09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6728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D7ED060-5746-4E21-9146-5C5202E5E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5F5D0-687B-406B-BBAE-3FDF0FECB765}" type="datetime1">
              <a:rPr lang="ru-RU" smtClean="0"/>
              <a:t>29.04.2026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2D8C9ADF-04F3-447D-B29A-4A0251B69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398F01F-FCEA-446F-8020-AE631A8A7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45341-AD40-4D83-930C-9F0B02CE09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99399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AFE121-6D9A-4149-9294-84C115085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BAD605C-6F54-45CC-A127-C7BF962288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B4760B6-B5F9-462B-9742-03D50D957A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AFF12AA-AF02-4151-8CD5-4AE0ABA15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95B94-352E-4AA3-92DB-00F08D14BC6C}" type="datetime1">
              <a:rPr lang="ru-RU" smtClean="0"/>
              <a:t>29.04.2026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753B46D-34D0-4704-859E-985A143263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9748175-163B-42F9-BAC6-7911DEA34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45341-AD40-4D83-930C-9F0B02CE09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73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ED9FED-E67C-4EBE-8FEF-2CFB95B2B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5DE4B39-165C-41F1-B516-2DBA0126F7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57E89E5-A1BA-4141-BB60-8521E014A2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6CBB5F8-2406-4A46-A4E9-EF7080F13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0BDE8-BE82-4DF7-A85D-5BBEADE769DD}" type="datetime1">
              <a:rPr lang="ru-RU" smtClean="0"/>
              <a:t>29.04.2026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EA51798-84DC-4B33-958D-140F10BC5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D03646F-AE6D-4254-B690-5B693C69D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45341-AD40-4D83-930C-9F0B02CE09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02122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9CF9CB-E5B9-49EE-A410-EC9ED71BC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14DB5C6-DC03-4477-85F9-6433D887C6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C684CCB-C517-47BE-BB26-15BD40396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BA8609-FCE7-4971-8D4D-0A5E9E815CBF}" type="datetime1">
              <a:rPr lang="ru-RU" smtClean="0"/>
              <a:t>29.04.2026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D6CD1B-4233-4941-A2BA-8870DF127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087A19F-F4A9-4BCA-937F-8B73AEBC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45341-AD40-4D83-930C-9F0B02CE09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7490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C2EF9B79-FE79-443E-B993-FEC3722F98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7F2FEEB-D4BE-47FF-AD52-5FB6BB9356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7C00FB2-4BDB-4C0B-8FC1-E08147ED8E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72F98-8DBD-400C-B251-C733B32AF5D0}" type="datetime1">
              <a:rPr lang="ru-RU" smtClean="0"/>
              <a:t>29.04.2026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0CC2382-E973-44F4-AD00-C9DFB90BE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BF8DED7-04D7-46BD-A0C4-70E38AF38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45341-AD40-4D83-930C-9F0B02CE09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52354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86AC2E-B3EA-4BF3-94D4-81EB6E899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272F78-F218-4D49-8772-19BABE8F7A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39AF030-432C-4C96-9178-27AF307FEE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EC1102-B0A2-4BF1-9A31-5AE07E32093E}" type="datetime1">
              <a:rPr lang="ru-RU" smtClean="0"/>
              <a:t>29.04.2026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96E083B-B573-43DA-AD92-45E5FE3E8A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4965E0F-8B71-4FE9-9942-61D38CCA89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345341-AD40-4D83-930C-9F0B02CE09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4039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415070-8EC7-4896-93E4-CD79ED0A84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Технология реверс-инжиниринга</a:t>
            </a:r>
            <a:b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Задание 4. </a:t>
            </a:r>
            <a:br>
              <a:rPr lang="ru-RU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F23117D-CE7D-427A-BCCB-F5233B6C72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89558" y="4850296"/>
            <a:ext cx="3201726" cy="1713222"/>
          </a:xfrm>
        </p:spPr>
        <p:txBody>
          <a:bodyPr>
            <a:normAutofit/>
          </a:bodyPr>
          <a:lstStyle/>
          <a:p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Презентацию выполнили студенты ТКИ-341 </a:t>
            </a:r>
            <a:b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Бикбавов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Дамир Русланович, </a:t>
            </a:r>
            <a:b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Кручинин Игорь Николаевич</a:t>
            </a:r>
            <a:b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Наставники: </a:t>
            </a:r>
            <a:b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Сидоренко Валентина Геннадьевна</a:t>
            </a:r>
            <a:b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Сафронов Антон Игоревич</a:t>
            </a:r>
          </a:p>
        </p:txBody>
      </p:sp>
    </p:spTree>
    <p:extLst>
      <p:ext uri="{BB962C8B-B14F-4D97-AF65-F5344CB8AC3E}">
        <p14:creationId xmlns:p14="http://schemas.microsoft.com/office/powerpoint/2010/main" val="1404166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624F69-3619-431E-AA4D-0722A4390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9" y="-96514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Оглавление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8055FEA-42C0-4DE7-AD62-240C91EBAA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920" y="1083076"/>
            <a:ext cx="11896078" cy="5093887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Постановка задачи…………………………………………………………...3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 исполняемого файла…………………………………………………….4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Компиляция исполняемого файла…………………………………………..5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Cutter Python.…………………………………………………………………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Cutter C………………………………………………………………………..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Pyinstxtractor</a:t>
            </a: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Python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………………………………………………………...11</a:t>
            </a: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Вывод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………………………………………………………………………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..12</a:t>
            </a: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B0BBA65-B506-4E8C-BF12-0A9EB0E3C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45341-AD40-4D83-930C-9F0B02CE091E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96022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624F69-3619-431E-AA4D-0722A4390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9" y="-96514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Постановка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8055FEA-42C0-4DE7-AD62-240C91EBAA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7961" y="417251"/>
            <a:ext cx="11896078" cy="5093887"/>
          </a:xfrm>
        </p:spPr>
        <p:txBody>
          <a:bodyPr>
            <a:noAutofit/>
          </a:bodyPr>
          <a:lstStyle/>
          <a:p>
            <a:pPr indent="0" algn="l">
              <a:lnSpc>
                <a:spcPct val="150000"/>
              </a:lnSpc>
              <a:buNone/>
              <a:tabLst>
                <a:tab pos="457200" algn="l"/>
              </a:tabLst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pPr marL="0" lvl="0" indent="0" algn="l">
              <a:lnSpc>
                <a:spcPct val="150000"/>
              </a:lnSpc>
              <a:buNone/>
              <a:tabLst>
                <a:tab pos="457200" algn="l"/>
              </a:tabLst>
            </a:pPr>
            <a:r>
              <a:rPr lang="ru-RU" sz="2000" dirty="0">
                <a:solidFill>
                  <a:srgbClr val="242424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В качестве исходных данных используем программное обеспечение (ПО) из лабораторной работы "Реверс-инжиниринг ПО, созданного на языке программирования С и С++", конвертированное на язык программирования Python с языка программирования С++ с использованием средств конвертации программного кода ((например, языковой модели с искус</a:t>
            </a:r>
            <a:r>
              <a:rPr lang="en-US" sz="2000" dirty="0">
                <a:solidFill>
                  <a:srgbClr val="242424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ru-RU" sz="2000" dirty="0" err="1">
                <a:solidFill>
                  <a:srgbClr val="242424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твенным</a:t>
            </a:r>
            <a:r>
              <a:rPr lang="ru-RU" sz="2000" dirty="0">
                <a:solidFill>
                  <a:srgbClr val="242424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интеллектом в </a:t>
            </a:r>
            <a:r>
              <a:rPr lang="ru-RU" sz="2000" dirty="0" err="1">
                <a:solidFill>
                  <a:srgbClr val="242424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Telegram</a:t>
            </a:r>
            <a:r>
              <a:rPr lang="ru-RU" sz="2000" dirty="0">
                <a:solidFill>
                  <a:srgbClr val="242424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и сервиса AI Code </a:t>
            </a:r>
            <a:r>
              <a:rPr lang="ru-RU" sz="2000" dirty="0" err="1">
                <a:solidFill>
                  <a:srgbClr val="242424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converter</a:t>
            </a:r>
            <a:r>
              <a:rPr lang="ru-RU" sz="2000" dirty="0">
                <a:solidFill>
                  <a:srgbClr val="242424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описанных в учебном пособии «Учебное пособие реверс-инжиниринг 2 240524», или др.). Проводим анализ и сравнение результатов, полученных в ходе конвертации ПО и его реверс-инжиниринга с использованием различных средств, делаем выводы. Создаем отдельный текстовый файл с содержанием всех ассемблерных кодов и псевдокодов. Сравниваем полученные листинги с листингами, полученными в первой лабораторной работе. В полученных </a:t>
            </a:r>
            <a:r>
              <a:rPr lang="ru-RU" sz="2000" dirty="0" err="1">
                <a:solidFill>
                  <a:srgbClr val="242424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exe</a:t>
            </a:r>
            <a:r>
              <a:rPr lang="ru-RU" sz="2000" dirty="0">
                <a:solidFill>
                  <a:srgbClr val="242424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файлах при помощи </a:t>
            </a:r>
            <a:r>
              <a:rPr lang="ru-RU" sz="2000" dirty="0" err="1">
                <a:solidFill>
                  <a:srgbClr val="242424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hex</a:t>
            </a:r>
            <a:r>
              <a:rPr lang="ru-RU" sz="2000" dirty="0">
                <a:solidFill>
                  <a:srgbClr val="242424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редакторов находим тот фрагмент, в котором непосредственно записан код двоичный программы. Имеем с собой файлы с </a:t>
            </a:r>
            <a:r>
              <a:rPr lang="ru-RU" sz="2000" dirty="0" err="1">
                <a:solidFill>
                  <a:srgbClr val="242424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принтскринами</a:t>
            </a:r>
            <a:r>
              <a:rPr lang="ru-RU" sz="2000" dirty="0">
                <a:solidFill>
                  <a:srgbClr val="242424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или обеспечиваем возможность просмотра. </a:t>
            </a:r>
            <a:endParaRPr lang="ru-RU" sz="20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lvl="0" indent="0" algn="l">
              <a:lnSpc>
                <a:spcPct val="150000"/>
              </a:lnSpc>
              <a:buNone/>
              <a:tabLst>
                <a:tab pos="457200" algn="l"/>
              </a:tabLst>
            </a:pPr>
            <a:r>
              <a:rPr lang="ru-RU" sz="2000" dirty="0">
                <a:solidFill>
                  <a:srgbClr val="242424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Файл с отчетом наименовать: "Лр4_Python Ф1 Ф2 Номер варианта".</a:t>
            </a: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pPr marL="0" indent="0">
              <a:buNone/>
            </a:pP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B0BBA65-B506-4E8C-BF12-0A9EB0E3C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45341-AD40-4D83-930C-9F0B02CE091E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4847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3F0E18-C3AF-43C2-9EF6-D27A92387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74463"/>
            <a:ext cx="10515600" cy="1325563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 исполняемого файла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94C067A-428D-43BE-871F-FB2E5838B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37494" y="6356350"/>
            <a:ext cx="2743200" cy="365125"/>
          </a:xfrm>
        </p:spPr>
        <p:txBody>
          <a:bodyPr/>
          <a:lstStyle/>
          <a:p>
            <a:fld id="{86345341-AD40-4D83-930C-9F0B02CE091E}" type="slidenum">
              <a:rPr lang="ru-RU" smtClean="0"/>
              <a:t>4</a:t>
            </a:fld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0AD0E3-E782-4C31-A39F-C094EFF31370}"/>
              </a:ext>
            </a:extLst>
          </p:cNvPr>
          <p:cNvSpPr txBox="1"/>
          <p:nvPr/>
        </p:nvSpPr>
        <p:spPr>
          <a:xfrm>
            <a:off x="4675354" y="5987018"/>
            <a:ext cx="2841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Код программы на языке </a:t>
            </a:r>
            <a:r>
              <a:rPr lang="en-US" dirty="0"/>
              <a:t>C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872937A-E687-D872-D59F-B6CEFF474B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796" y="642160"/>
            <a:ext cx="3247424" cy="5173222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A06F142-3D05-EC6E-E688-9E8CDD0FEC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8950" y="501649"/>
            <a:ext cx="3713819" cy="5454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588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27B3A-C8B7-A03A-5915-FD262DDD8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88AF3A-1151-EC47-AE6C-C297A3323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74463"/>
            <a:ext cx="10515600" cy="1325563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 исполняемого файла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00891B9-80C5-ADF6-7A18-731022080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37494" y="6356350"/>
            <a:ext cx="2743200" cy="365125"/>
          </a:xfrm>
        </p:spPr>
        <p:txBody>
          <a:bodyPr/>
          <a:lstStyle/>
          <a:p>
            <a:fld id="{86345341-AD40-4D83-930C-9F0B02CE091E}" type="slidenum">
              <a:rPr lang="ru-RU" smtClean="0"/>
              <a:t>5</a:t>
            </a:fld>
            <a:endParaRPr lang="ru-R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FAE1DF-49A1-F585-2DFF-152253DB9984}"/>
              </a:ext>
            </a:extLst>
          </p:cNvPr>
          <p:cNvSpPr txBox="1"/>
          <p:nvPr/>
        </p:nvSpPr>
        <p:spPr>
          <a:xfrm>
            <a:off x="4403196" y="5897325"/>
            <a:ext cx="33856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Код программы на языке</a:t>
            </a:r>
            <a:r>
              <a:rPr lang="en-US" dirty="0"/>
              <a:t> Python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30EF57F-27A4-D13F-543A-1C8DE64E9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99" y="629891"/>
            <a:ext cx="4364670" cy="526743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670F50B-D2DC-5D6F-1B53-EE680A39C8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1932" y="288318"/>
            <a:ext cx="4257022" cy="5505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115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3F0E18-C3AF-43C2-9EF6-D27A92387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74463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Cutter Python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94C067A-428D-43BE-871F-FB2E5838B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37494" y="6356350"/>
            <a:ext cx="2743200" cy="365125"/>
          </a:xfrm>
        </p:spPr>
        <p:txBody>
          <a:bodyPr/>
          <a:lstStyle/>
          <a:p>
            <a:fld id="{86345341-AD40-4D83-930C-9F0B02CE091E}" type="slidenum">
              <a:rPr lang="ru-RU" smtClean="0"/>
              <a:t>6</a:t>
            </a:fld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3217F5-E8E7-4374-AC18-3F48C50C493E}"/>
              </a:ext>
            </a:extLst>
          </p:cNvPr>
          <p:cNvSpPr txBox="1"/>
          <p:nvPr/>
        </p:nvSpPr>
        <p:spPr>
          <a:xfrm>
            <a:off x="8159974" y="822960"/>
            <a:ext cx="39018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Основная информация исполняемого</a:t>
            </a:r>
            <a:br>
              <a:rPr lang="ru-RU" dirty="0"/>
            </a:br>
            <a:r>
              <a:rPr lang="ru-RU" dirty="0"/>
              <a:t>файла на языке </a:t>
            </a:r>
            <a:r>
              <a:rPr lang="en-GB" dirty="0"/>
              <a:t>Python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F9025E1-3E9A-F357-8C0E-CAE4EFFF6A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189" y="667906"/>
            <a:ext cx="7238277" cy="6053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799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8871BC-C908-47C8-9EFA-455886680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1325563"/>
          </a:xfrm>
        </p:spPr>
        <p:txBody>
          <a:bodyPr>
            <a:norm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Cutter Python</a:t>
            </a:r>
            <a:endParaRPr lang="ru-RU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7841F2A-FC93-4E9A-94E2-6085DC353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45341-AD40-4D83-930C-9F0B02CE091E}" type="slidenum">
              <a:rPr lang="ru-RU" smtClean="0"/>
              <a:t>7</a:t>
            </a:fld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46AD22-1D36-45E7-B27E-79DEF47320D2}"/>
              </a:ext>
            </a:extLst>
          </p:cNvPr>
          <p:cNvSpPr txBox="1"/>
          <p:nvPr/>
        </p:nvSpPr>
        <p:spPr>
          <a:xfrm>
            <a:off x="2724075" y="6000303"/>
            <a:ext cx="57872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Дизассемблированный код </a:t>
            </a: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27919AB-4730-D77F-C4B2-FD3DF9145E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96004"/>
            <a:ext cx="12192000" cy="4465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1689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8871BC-C908-47C8-9EFA-455886680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1325563"/>
          </a:xfrm>
        </p:spPr>
        <p:txBody>
          <a:bodyPr>
            <a:norm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Cutter Python</a:t>
            </a:r>
            <a:endParaRPr lang="ru-RU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7841F2A-FC93-4E9A-94E2-6085DC353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45341-AD40-4D83-930C-9F0B02CE091E}" type="slidenum">
              <a:rPr lang="ru-RU" smtClean="0"/>
              <a:t>8</a:t>
            </a:fld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46AD22-1D36-45E7-B27E-79DEF47320D2}"/>
              </a:ext>
            </a:extLst>
          </p:cNvPr>
          <p:cNvSpPr txBox="1"/>
          <p:nvPr/>
        </p:nvSpPr>
        <p:spPr>
          <a:xfrm>
            <a:off x="2663114" y="6136700"/>
            <a:ext cx="65402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Двоичный код </a:t>
            </a: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main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</a:t>
            </a: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hex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редакторе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CA81E1C-A5C6-38A8-A1BA-2DB33A9403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3547" y="1166497"/>
            <a:ext cx="7744906" cy="452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23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8871BC-C908-47C8-9EFA-455886680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1325563"/>
          </a:xfrm>
        </p:spPr>
        <p:txBody>
          <a:bodyPr>
            <a:norm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Cutter C</a:t>
            </a:r>
            <a:endParaRPr lang="ru-RU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7841F2A-FC93-4E9A-94E2-6085DC353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45341-AD40-4D83-930C-9F0B02CE091E}" type="slidenum">
              <a:rPr lang="ru-RU" smtClean="0"/>
              <a:t>9</a:t>
            </a:fld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42A5ED-0BCB-44A8-A308-957361E481E0}"/>
              </a:ext>
            </a:extLst>
          </p:cNvPr>
          <p:cNvSpPr txBox="1"/>
          <p:nvPr/>
        </p:nvSpPr>
        <p:spPr>
          <a:xfrm>
            <a:off x="7575603" y="1168400"/>
            <a:ext cx="39018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Основная информация исполняемого</a:t>
            </a:r>
            <a:br>
              <a:rPr lang="ru-RU" dirty="0"/>
            </a:br>
            <a:r>
              <a:rPr lang="ru-RU" dirty="0"/>
              <a:t>файла на языке </a:t>
            </a:r>
            <a:r>
              <a:rPr lang="en-GB" dirty="0"/>
              <a:t>C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BA1A61D-CC4E-AC1B-6460-7A394ED7E7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554" y="1127395"/>
            <a:ext cx="6938496" cy="5594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9224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8871BC-C908-47C8-9EFA-455886680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05" y="-328432"/>
            <a:ext cx="10515600" cy="1325563"/>
          </a:xfrm>
        </p:spPr>
        <p:txBody>
          <a:bodyPr>
            <a:norm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Cutter C</a:t>
            </a:r>
            <a:endParaRPr lang="ru-RU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7841F2A-FC93-4E9A-94E2-6085DC353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45341-AD40-4D83-930C-9F0B02CE091E}" type="slidenum">
              <a:rPr lang="ru-RU" smtClean="0"/>
              <a:t>10</a:t>
            </a:fld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46AD22-1D36-45E7-B27E-79DEF47320D2}"/>
              </a:ext>
            </a:extLst>
          </p:cNvPr>
          <p:cNvSpPr txBox="1"/>
          <p:nvPr/>
        </p:nvSpPr>
        <p:spPr>
          <a:xfrm>
            <a:off x="412593" y="2799578"/>
            <a:ext cx="65402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Двоичный код </a:t>
            </a: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main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</a:t>
            </a: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hex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редакторе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33B3C6-B145-45FF-9AA1-B954791B9032}"/>
              </a:ext>
            </a:extLst>
          </p:cNvPr>
          <p:cNvSpPr txBox="1"/>
          <p:nvPr/>
        </p:nvSpPr>
        <p:spPr>
          <a:xfrm>
            <a:off x="4859508" y="5642913"/>
            <a:ext cx="32465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Адреса кода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F05A38E-2CD4-A560-DD1A-3A82C41970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05" y="884937"/>
            <a:ext cx="7393119" cy="1839976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EF166A6-FF02-2335-3E56-418B3AFFDD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4979" y="3326716"/>
            <a:ext cx="5134692" cy="237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6300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7841F2A-FC93-4E9A-94E2-6085DC353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45341-AD40-4D83-930C-9F0B02CE091E}" type="slidenum">
              <a:rPr lang="ru-RU" smtClean="0"/>
              <a:t>11</a:t>
            </a:fld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4A7974-0067-434B-8C59-CC2BDCF51539}"/>
              </a:ext>
            </a:extLst>
          </p:cNvPr>
          <p:cNvSpPr txBox="1"/>
          <p:nvPr/>
        </p:nvSpPr>
        <p:spPr>
          <a:xfrm>
            <a:off x="2452456" y="4453777"/>
            <a:ext cx="6094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Адрес </a:t>
            </a:r>
            <a:r>
              <a:rPr lang="ru-RU" dirty="0" err="1"/>
              <a:t>фукнции</a:t>
            </a:r>
            <a:r>
              <a:rPr lang="ru-RU" dirty="0"/>
              <a:t> </a:t>
            </a:r>
            <a:r>
              <a:rPr lang="en-US" dirty="0"/>
              <a:t>main</a:t>
            </a:r>
            <a:endParaRPr lang="ru-RU" dirty="0"/>
          </a:p>
        </p:txBody>
      </p:sp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54CC5949-AD4A-418A-83D1-32B70476A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1325563"/>
          </a:xfrm>
        </p:spPr>
        <p:txBody>
          <a:bodyPr>
            <a:normAutofit/>
          </a:bodyPr>
          <a:lstStyle/>
          <a:p>
            <a:r>
              <a:rPr lang="en-GB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010 Editor Python</a:t>
            </a:r>
            <a:endParaRPr lang="ru-RU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DEB8011-1054-E322-F795-42E9E29B7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0784" y="1343818"/>
            <a:ext cx="7030431" cy="266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669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7841F2A-FC93-4E9A-94E2-6085DC353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45341-AD40-4D83-930C-9F0B02CE091E}" type="slidenum">
              <a:rPr lang="ru-RU" smtClean="0"/>
              <a:t>12</a:t>
            </a:fld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4A7974-0067-434B-8C59-CC2BDCF51539}"/>
              </a:ext>
            </a:extLst>
          </p:cNvPr>
          <p:cNvSpPr txBox="1"/>
          <p:nvPr/>
        </p:nvSpPr>
        <p:spPr>
          <a:xfrm>
            <a:off x="4627485" y="4862149"/>
            <a:ext cx="6094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Адрес функции </a:t>
            </a:r>
            <a:r>
              <a:rPr lang="en-US" dirty="0"/>
              <a:t>main</a:t>
            </a:r>
            <a:endParaRPr lang="ru-RU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4B18F3EB-D074-482B-976B-D8E90D202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1325563"/>
          </a:xfrm>
        </p:spPr>
        <p:txBody>
          <a:bodyPr>
            <a:norm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010 Editor Python</a:t>
            </a:r>
            <a:endParaRPr lang="ru-RU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B78A5FB-727A-9648-96A7-E27F245367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1217" y="1343818"/>
            <a:ext cx="6563641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887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14388E-C6D1-400F-92D8-EA29202F5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39500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Выводы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22527C7-DC65-4214-B09F-3D17776A6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45341-AD40-4D83-930C-9F0B02CE091E}" type="slidenum">
              <a:rPr lang="ru-RU" smtClean="0"/>
              <a:t>13</a:t>
            </a:fld>
            <a:endParaRPr lang="ru-RU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03817FD7-3A42-4103-8398-7430CA217BA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2240" y="2088047"/>
            <a:ext cx="11724640" cy="12259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5392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br>
              <a:rPr kumimoji="0" lang="en-GB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E70244A9-C9EC-46D2-9380-9C40FEB86A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00" y="454196"/>
            <a:ext cx="11907520" cy="48237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2218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b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b="1" dirty="0">
                <a:solidFill>
                  <a:srgbClr val="0F1115"/>
                </a:solidFill>
                <a:effectLst/>
                <a:latin typeface="quote-cjk-patch"/>
              </a:rPr>
              <a:t>Итоговые выводы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1" i="0" dirty="0">
                <a:solidFill>
                  <a:srgbClr val="0F1115"/>
                </a:solidFill>
                <a:effectLst/>
                <a:latin typeface="quote-cjk-patch"/>
              </a:rPr>
              <a:t>Энтропия</a:t>
            </a:r>
            <a:r>
              <a:rPr lang="ru-RU" sz="2400" b="0" i="0" dirty="0">
                <a:solidFill>
                  <a:srgbClr val="0F1115"/>
                </a:solidFill>
                <a:effectLst/>
                <a:latin typeface="quote-cjk-patch"/>
              </a:rPr>
              <a:t> является надёжным критерием для первичной классификации исполняемых файлов: высокое значение (более 6.5) с высокой вероятностью указывает на упакованный или интерпретируемый код (Python), низкое (менее 6) — на скомпилированный машинный код (C/C++, ассемблер).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1" i="0" dirty="0">
                <a:solidFill>
                  <a:srgbClr val="0F1115"/>
                </a:solidFill>
                <a:effectLst/>
                <a:latin typeface="quote-cjk-patch"/>
              </a:rPr>
              <a:t>Статистика инструкций</a:t>
            </a:r>
            <a:r>
              <a:rPr lang="ru-RU" sz="2400" b="0" i="0" dirty="0">
                <a:solidFill>
                  <a:srgbClr val="0F1115"/>
                </a:solidFill>
                <a:effectLst/>
                <a:latin typeface="quote-cjk-patch"/>
              </a:rPr>
              <a:t> и </a:t>
            </a:r>
            <a:r>
              <a:rPr lang="ru-RU" sz="2400" b="1" i="0" dirty="0">
                <a:solidFill>
                  <a:srgbClr val="0F1115"/>
                </a:solidFill>
                <a:effectLst/>
                <a:latin typeface="quote-cjk-patch"/>
              </a:rPr>
              <a:t>размер файла</a:t>
            </a:r>
            <a:r>
              <a:rPr lang="ru-RU" sz="2400" b="0" i="0" dirty="0">
                <a:solidFill>
                  <a:srgbClr val="0F1115"/>
                </a:solidFill>
                <a:effectLst/>
                <a:latin typeface="quote-cjk-patch"/>
              </a:rPr>
              <a:t> позволяют оценить сложность программы: Python-файлы в 480 раз больше C-аналогов при простой логике, а количество машинных инструкций в них превышает в ~5 раз.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0F1115"/>
                </a:solidFill>
                <a:effectLst/>
                <a:latin typeface="quote-cjk-patch"/>
              </a:rPr>
              <a:t>Для глубокого реверс-инжиниринга </a:t>
            </a:r>
            <a:r>
              <a:rPr lang="ru-RU" sz="2400" b="1" i="0" dirty="0">
                <a:solidFill>
                  <a:srgbClr val="0F1115"/>
                </a:solidFill>
                <a:effectLst/>
                <a:latin typeface="quote-cjk-patch"/>
              </a:rPr>
              <a:t>C-код</a:t>
            </a:r>
            <a:r>
              <a:rPr lang="ru-RU" sz="2400" b="0" i="0" dirty="0">
                <a:solidFill>
                  <a:srgbClr val="0F1115"/>
                </a:solidFill>
                <a:effectLst/>
                <a:latin typeface="quote-cjk-patch"/>
              </a:rPr>
              <a:t> предпочтительнее благодаря линейным адресам и предсказуемой структуре, тогда как </a:t>
            </a:r>
            <a:r>
              <a:rPr lang="ru-RU" sz="2400" b="1" i="0" dirty="0">
                <a:solidFill>
                  <a:srgbClr val="0F1115"/>
                </a:solidFill>
                <a:effectLst/>
                <a:latin typeface="quote-cjk-patch"/>
              </a:rPr>
              <a:t>Python</a:t>
            </a:r>
            <a:r>
              <a:rPr lang="ru-RU" sz="2400" b="0" i="0" dirty="0">
                <a:solidFill>
                  <a:srgbClr val="0F1115"/>
                </a:solidFill>
                <a:effectLst/>
                <a:latin typeface="quote-cjk-patch"/>
              </a:rPr>
              <a:t> требует дополнительных этапов распаковки и анализа байт-кода.</a:t>
            </a:r>
          </a:p>
          <a:p>
            <a:pPr marL="457200" marR="0" lvl="1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ru-RU" altLang="ru-RU" sz="24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260431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21003</TotalTime>
  <Words>418</Words>
  <Application>Microsoft Office PowerPoint</Application>
  <PresentationFormat>Широкоэкранный</PresentationFormat>
  <Paragraphs>52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quote-cjk-patch</vt:lpstr>
      <vt:lpstr>Times New Roman</vt:lpstr>
      <vt:lpstr>Тема Office</vt:lpstr>
      <vt:lpstr>Технология реверс-инжиниринга Задание 4.  </vt:lpstr>
      <vt:lpstr>Оглавление</vt:lpstr>
      <vt:lpstr>Постановка задачи</vt:lpstr>
      <vt:lpstr>Код исполняемого файла</vt:lpstr>
      <vt:lpstr>Код исполняемого файла</vt:lpstr>
      <vt:lpstr>Cutter Python</vt:lpstr>
      <vt:lpstr>Cutter Python</vt:lpstr>
      <vt:lpstr>Cutter Python</vt:lpstr>
      <vt:lpstr>Cutter C</vt:lpstr>
      <vt:lpstr>Cutter C</vt:lpstr>
      <vt:lpstr>010 Editor Python</vt:lpstr>
      <vt:lpstr>010 Editor Python</vt:lpstr>
      <vt:lpstr>Выводы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Технология реверс-инжиниринга Задание 1. Сравнение энтропии неупакованного и упакованного файлов</dc:title>
  <dc:creator>Вячеслав Луканкин</dc:creator>
  <cp:lastModifiedBy>Бикбавов Дамир Русланович</cp:lastModifiedBy>
  <cp:revision>123</cp:revision>
  <dcterms:created xsi:type="dcterms:W3CDTF">2026-02-12T07:50:40Z</dcterms:created>
  <dcterms:modified xsi:type="dcterms:W3CDTF">2026-04-29T15:05:31Z</dcterms:modified>
</cp:coreProperties>
</file>